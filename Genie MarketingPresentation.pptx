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640080" cy="64008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30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8046720" cy="56692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39696"/>
            <a:ext cx="594360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0">
                <a:solidFill>
                  <a:srgbClr val="D9E1EC"/>
                </a:solidFill>
                <a:latin typeface="Aptos"/>
              </a:rPr>
              <a:t>Management-ready conversion performance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971800"/>
            <a:ext cx="4572000" cy="53035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87.6% current conversion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11880"/>
            <a:ext cx="5029200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300" b="0">
                <a:solidFill>
                  <a:srgbClr val="D9E1EC"/>
                </a:solidFill>
                <a:latin typeface="Aptos"/>
              </a:rPr>
              <a:t>7,012 conversions | $40,007,559 ad spend | $5,706 cost per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40680"/>
            <a:ext cx="356616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0">
                <a:solidFill>
                  <a:srgbClr val="D9E1EC"/>
                </a:solidFill>
                <a:latin typeface="Aptos"/>
              </a:rPr>
              <a:t>Clean deck based on the Looker Studio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Executive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What Management Should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1106424"/>
            <a:ext cx="384048" cy="38404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2000" b="1">
                <a:solidFill>
                  <a:srgbClr val="0000DC"/>
                </a:solidFill>
                <a:latin typeface="Aptos"/>
              </a:rPr>
              <a:t>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4712" y="1097280"/>
            <a:ext cx="1280160" cy="2011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950" b="0">
                <a:solidFill>
                  <a:srgbClr val="606C76"/>
                </a:solidFill>
                <a:latin typeface="Aptos"/>
              </a:rPr>
              <a:t>Conversion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4712" y="1353312"/>
            <a:ext cx="128016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800" b="1">
                <a:solidFill>
                  <a:srgbClr val="202631"/>
                </a:solidFill>
                <a:latin typeface="Aptos"/>
              </a:rPr>
              <a:t>87.6%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" y="1673352"/>
            <a:ext cx="1280160" cy="1828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850" b="0">
                <a:solidFill>
                  <a:srgbClr val="606C76"/>
                </a:solidFill>
                <a:latin typeface="Aptos"/>
              </a:rPr>
              <a:t>current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601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9504" y="1106424"/>
            <a:ext cx="384048" cy="38404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2000" b="1">
                <a:solidFill>
                  <a:srgbClr val="0000DC"/>
                </a:solidFill>
                <a:latin typeface="Aptos"/>
              </a:rPr>
              <a:t>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097280"/>
            <a:ext cx="1280160" cy="2011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950" b="0">
                <a:solidFill>
                  <a:srgbClr val="606C76"/>
                </a:solidFill>
                <a:latin typeface="Aptos"/>
              </a:rPr>
              <a:t>Conversions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353312"/>
            <a:ext cx="128016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800" b="1">
                <a:solidFill>
                  <a:srgbClr val="202631"/>
                </a:solidFill>
                <a:latin typeface="Aptos"/>
              </a:rPr>
              <a:t>7,012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73352"/>
            <a:ext cx="1280160" cy="1828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850" b="0">
                <a:solidFill>
                  <a:srgbClr val="606C76"/>
                </a:solidFill>
                <a:latin typeface="Aptos"/>
              </a:rPr>
              <a:t>total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9601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4" y="1106424"/>
            <a:ext cx="384048" cy="38404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2000" b="1">
                <a:solidFill>
                  <a:srgbClr val="0000DC"/>
                </a:solidFill>
                <a:latin typeface="Aptos"/>
              </a:rPr>
              <a:t>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1097280"/>
            <a:ext cx="1280160" cy="2011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950" b="0">
                <a:solidFill>
                  <a:srgbClr val="606C76"/>
                </a:solidFill>
                <a:latin typeface="Aptos"/>
              </a:rPr>
              <a:t>Ad Spend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5272" y="1353312"/>
            <a:ext cx="128016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800" b="1">
                <a:solidFill>
                  <a:srgbClr val="202631"/>
                </a:solidFill>
                <a:latin typeface="Aptos"/>
              </a:rPr>
              <a:t>$40.0M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5272" y="1673352"/>
            <a:ext cx="1280160" cy="1828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850" b="0">
                <a:solidFill>
                  <a:srgbClr val="606C76"/>
                </a:solidFill>
                <a:latin typeface="Aptos"/>
              </a:rPr>
              <a:t>total investment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9601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0064" y="1106424"/>
            <a:ext cx="384048" cy="38404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2000" b="1">
                <a:solidFill>
                  <a:srgbClr val="FF9F1C"/>
                </a:solidFill>
                <a:latin typeface="Aptos"/>
              </a:rPr>
              <a:t>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5552" y="1097280"/>
            <a:ext cx="1280160" cy="2011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950" b="0">
                <a:solidFill>
                  <a:srgbClr val="606C76"/>
                </a:solidFill>
                <a:latin typeface="Aptos"/>
              </a:rPr>
              <a:t>Cost / Conv.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5552" y="1353312"/>
            <a:ext cx="128016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800" b="1">
                <a:solidFill>
                  <a:srgbClr val="202631"/>
                </a:solidFill>
                <a:latin typeface="Aptos"/>
              </a:rPr>
              <a:t>$5,706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1673352"/>
            <a:ext cx="1280160" cy="1828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850" b="0">
                <a:solidFill>
                  <a:srgbClr val="606C76"/>
                </a:solidFill>
                <a:latin typeface="Aptos"/>
              </a:rPr>
              <a:t>efficiency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9601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10344" y="1106424"/>
            <a:ext cx="384048" cy="38404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2000" b="1">
                <a:solidFill>
                  <a:srgbClr val="17A673"/>
                </a:solidFill>
                <a:latin typeface="Aptos"/>
              </a:rPr>
              <a:t>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5832" y="1097280"/>
            <a:ext cx="1280160" cy="2011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950" b="0">
                <a:solidFill>
                  <a:srgbClr val="606C76"/>
                </a:solidFill>
                <a:latin typeface="Aptos"/>
              </a:rPr>
              <a:t>Avg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5832" y="1353312"/>
            <a:ext cx="1280160" cy="32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800" b="1">
                <a:solidFill>
                  <a:srgbClr val="202631"/>
                </a:solidFill>
                <a:latin typeface="Aptos"/>
              </a:rPr>
              <a:t>7.73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85832" y="1673352"/>
            <a:ext cx="1280160" cy="1828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850" b="0">
                <a:solidFill>
                  <a:srgbClr val="606C76"/>
                </a:solidFill>
                <a:latin typeface="Aptos"/>
              </a:rPr>
              <a:t>engagement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233172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" y="2459736"/>
            <a:ext cx="492861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Executive Summary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28437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2825496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Conversion volume is strong, but the dashboard shows efficiency risk: higher spend does not always scale conversion economically.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2735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3255264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Conversion campaign types perform best, while channel conversion rates are similar; budget decisions should be guided by cost per conversion.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7033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3685032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Engagement signals, especially email clicks and time on site, show the strongest lift between low and high-performing groups.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13308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4114800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The dataset has no date field, so decline over time should be validated before calling this a confirmed trend.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233172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28231" y="2459736"/>
            <a:ext cx="492861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Recommended Management Actions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28437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2825496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Protect spend in conversion-efficient segments before increasing overall budget.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32735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3255264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Prioritize high-intent audiences and email click-through improvements.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37033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3685032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Shift creative testing toward stronger sports, devices, and operating systems.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92240" y="413308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4114800"/>
            <a:ext cx="46177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Add date, impressions, reach, frequency, and denominator fields to validate true decline drivers.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Conversion Drivers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What Moves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pic>
        <p:nvPicPr>
          <p:cNvPr id="8" name="Picture 7" descr="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48640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143000"/>
            <a:ext cx="5029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271016"/>
            <a:ext cx="470001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Key Insight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5506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36776"/>
            <a:ext cx="43891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EmailClicks shows the largest lift: high-quartile rows convert about 91.7% vs 80.2% in low-quartile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08483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066544"/>
            <a:ext cx="43891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TimeOnSite and EmailOpens also separate stronger from weaker conversion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51460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496312"/>
            <a:ext cx="43891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Business meaning: conversion quality is tied more to intent and engagement than to channel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944368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26079"/>
            <a:ext cx="43891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Action: improve landing page depth, email click paths, and audience retargeting before scaling spend.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Campaign &amp; Channel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Where Performance Comes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pic>
        <p:nvPicPr>
          <p:cNvPr id="8" name="Picture 7" descr="campaign_type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16636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0" y="1051560"/>
            <a:ext cx="5303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179576"/>
            <a:ext cx="497433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Key Insight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6362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545336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Conversion campaigns lead with 93.4% observed conversion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93391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75103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Programmatic Ads delivers 4,175 conversions, more volume than Social Media.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42315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404871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Channel conversion rates are nearly equal, so the channel story is more about volume and cost than conversion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5292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834639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Action: manage channel budget using cost per conversion and marginal lift, not conversion volume alone.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Creative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What Creative Signals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pic>
        <p:nvPicPr>
          <p:cNvPr id="8" name="Picture 7" descr="sport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484632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005840"/>
            <a:ext cx="5715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1133856"/>
            <a:ext cx="538581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Key Insight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179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99616"/>
            <a:ext cx="50749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Soccer is the strongest sport segment, while NFL is weakest on observed conversion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9476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9384"/>
            <a:ext cx="50749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Top creative combinations mix sport, platform, OS, and size; winners should be scaled as combinations, not isolated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37743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359151"/>
            <a:ext cx="50749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Business meaning: creative context matters. A good sport theme can underperform if delivered on weaker platform or OS combinations.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80720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19"/>
            <a:ext cx="50749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Action: build a controlled creative test matrix by Sport x Platform x OS x Resolution.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1051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00" b="0">
                <a:solidFill>
                  <a:srgbClr val="202631"/>
                </a:solidFill>
                <a:latin typeface="Aptos"/>
              </a:rPr>
              <a:t>Top creative examples should be treated as test candidates, not permanent winners, because the dataset does not include date, audience, placement, or frequency.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Engagement &amp;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Intent Signals Are Actionable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058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133856"/>
            <a:ext cx="488289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Business Meaning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179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499616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Time on site and pages per visit should be read as engagement depth, not percentages.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9476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29384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Previous purchases and loyalty points measure historical relationship; Conversion measures the current campaign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37743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59151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Returning or loyal customers can still be analyzed for repeat conversion propensity.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0720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788919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Action: separate new customer acquisition from returning-customer conversion strategy.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0058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1" y="1133856"/>
            <a:ext cx="488289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Recommended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5179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499616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Create segments for new, low-history, medium-history, and high-history customers.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9476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929384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Use email click behavior as an audience for retargeting and offer testing.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37743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359151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Improve landing pages where engagement is high but conversion is not increasing.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80720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788919"/>
            <a:ext cx="45720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Track repeat conversion rate separately from first-time conversion rate.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Spend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More Spend Buys Lift, But At A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pic>
        <p:nvPicPr>
          <p:cNvPr id="8" name="Picture 7" descr="spend_quar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53796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960120"/>
            <a:ext cx="43434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9792" y="1088136"/>
            <a:ext cx="4014215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Key Insight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721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453896"/>
            <a:ext cx="37033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Q1 spend converts at 82.8%; Q4 spend converts at 92.4%.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9019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83664"/>
            <a:ext cx="37033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Cost per conversion rises from about $1,609 in Q1 to $9,416 in Q4.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3317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313432"/>
            <a:ext cx="37033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Business meaning: higher investment improves conversion rate modestly, but efficiency deteriorates sharply.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6148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743199"/>
            <a:ext cx="370332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Action: scale only where incremental conversion lift beats the cost increase.</a:t>
            </a:r>
          </a:p>
        </p:txBody>
      </p:sp>
      <p:pic>
        <p:nvPicPr>
          <p:cNvPr id="19" name="Picture 18" descr="scatter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4846320" cy="187451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What To Do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0584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133856"/>
            <a:ext cx="323697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1. Optimize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179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499616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Use cost per conversion guardrails.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476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1929384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Shift budget from high-cost / low-lift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7743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359151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Scale only after marginal lift is 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00584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1133856"/>
            <a:ext cx="323697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2. Improve Conversion Paths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179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499616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Prioritize email click journeys.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9476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929384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Reduce landing page friction.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37743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359151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Retarget high-engagement visitors.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00584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1" y="1133856"/>
            <a:ext cx="323697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3. Test Creative Combinations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5179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19" y="1499616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Test sport, platform, OS, and ad size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19476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19" y="1929384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Protect top creatives from overgeneralization.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377439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19" y="2359151"/>
            <a:ext cx="29260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Run A/B tests before budget scaling.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Success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How To Know It Is 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01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088136"/>
            <a:ext cx="483717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Primary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721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453896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Conversion Rate: confirms whether campaign quality improves.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9019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883664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Cost per Conversion: confirms whether growth is efficient.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3317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13432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Total Conversions: confirms business volume.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6148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743199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Ad Spend: confirms budget discipline.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9601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1" y="1088136"/>
            <a:ext cx="483717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Diagnostic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4721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453896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CTR: measures ad click appeal.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9019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883664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Time on Site and Pages per Visit: measure landing engagement.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3317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313432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Email Opens and Email Clicks: measure owned-channel intent.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761487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743199"/>
            <a:ext cx="452628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Repeat Conversion Rate: separates returning customer behavior from acquisition.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28016"/>
            <a:ext cx="329184" cy="329184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00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0000DC"/>
                </a:solidFill>
                <a:latin typeface="Aptos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0584"/>
            <a:ext cx="47548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GENIE MARKETING | Conversion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"/>
            <a:ext cx="3657600" cy="1645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750" b="0">
                <a:solidFill>
                  <a:srgbClr val="D9E1EC"/>
                </a:solidFill>
                <a:latin typeface="Aptos"/>
              </a:rPr>
              <a:t>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"/>
            <a:ext cx="2926080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Data Notes &amp;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088136"/>
            <a:ext cx="511149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Facts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721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453896"/>
            <a:ext cx="48006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Dataset includes campaign, creative, spend, engagement, customer history, and conversion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019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1883664"/>
            <a:ext cx="48006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CreativeName was enriched into Country, Platform, Operating System, Sport, and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317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0000DC"/>
                </a:solidFill>
                <a:latin typeface="Aptos"/>
              </a:rPr>
              <a:t>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313432"/>
            <a:ext cx="480060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No missing values were found in the core dataset used for the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96012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1088136"/>
            <a:ext cx="497433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Assumptions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47218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453896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ConversionRate is treated as a pre-calculated campaign metric.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90195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883664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Because the source denominator is not included, rates are averaged for segment comparison.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33172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FF9F1C"/>
                </a:solidFill>
                <a:latin typeface="Aptos"/>
              </a:rPr>
              <a:t>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313432"/>
            <a:ext cx="4663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Cost per Conversion is calculated as SUM(AdSpend) / SUM(Conversion).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20440"/>
            <a:ext cx="11018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600" b="0">
                <a:solidFill>
                  <a:srgbClr val="202631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3648456"/>
            <a:ext cx="10689336" cy="25603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400" b="1">
                <a:solidFill>
                  <a:srgbClr val="202631"/>
                </a:solidFill>
                <a:latin typeface="Aptos"/>
              </a:rPr>
              <a:t>Recommended Data Improvements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032504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014216"/>
            <a:ext cx="10378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Validate the official denominator of ConversionRate: visits, clicks, impressions, sessions, or exposed users.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462272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443984"/>
            <a:ext cx="10378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Add campaign date fields to measure whether conversion decline is truly happening over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92040"/>
            <a:ext cx="109728" cy="12801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200" b="1">
                <a:solidFill>
                  <a:srgbClr val="17A673"/>
                </a:solidFill>
                <a:latin typeface="Aptos"/>
              </a:rPr>
              <a:t>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73752"/>
            <a:ext cx="10378440" cy="31089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l"/>
            <a:r>
              <a:rPr sz="1050" b="0">
                <a:solidFill>
                  <a:srgbClr val="202631"/>
                </a:solidFill>
                <a:latin typeface="Aptos"/>
              </a:rPr>
              <a:t>Track impressions, reach, frequency, placement, audience segment, promotion type, and landing page variant.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27080" y="6565392"/>
            <a:ext cx="960120" cy="14630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r"/>
            <a:r>
              <a:rPr sz="800" b="0">
                <a:solidFill>
                  <a:srgbClr val="606C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